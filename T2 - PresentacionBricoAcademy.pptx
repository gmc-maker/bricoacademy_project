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F9B"/>
    <a:srgbClr val="F6F7F3"/>
    <a:srgbClr val="ADA6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353" autoAdjust="0"/>
  </p:normalViewPr>
  <p:slideViewPr>
    <p:cSldViewPr snapToGrid="0">
      <p:cViewPr>
        <p:scale>
          <a:sx n="50" d="100"/>
          <a:sy n="50" d="100"/>
        </p:scale>
        <p:origin x="-588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86EB331-0682-A448-61B7-01BC3BEF5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E6868FC-34A2-171C-8731-A0B751C94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0CB0C789-287C-8479-60B5-F5B45BA2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9B132DC-5B6A-33ED-0723-BCDEC99E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5DAAD0E-6487-6689-3F89-79B86827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122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AC1DF07-ACE6-7328-D1F2-F1D1E379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BB0AA4E-39B1-4D80-A630-A0FFB9D0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E4156E67-49DB-D950-2759-9128CFE8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E44AF6A9-6516-D378-8D6D-9CB7DAC8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09FDA71A-4722-16CF-7BD9-96D29FD6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66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51E33F-4662-2CC7-5F88-432D6D6E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E11CB46C-4FB0-BF1C-D5FC-38FA7FCFF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3836A5DC-B588-A10A-1B82-CB4B7F0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88797F7-EEAE-6BE3-FE13-543DA260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4066000-F893-AF41-E4C6-ED5070F6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39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6A1579A-B9A6-9362-67D8-3E406EC7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397547E2-AF81-48CF-CE7F-36BA15F8C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2A2B1624-3814-0E23-F9C4-B0C32530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2C13CEB9-4E76-BDE0-5CAF-AE6A3A63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2A1CCC3-FCAA-18EB-4933-6705D36E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0AE70C17-25FA-00EA-0574-FEB8C9A7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18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8D4712F-5DCE-8252-945F-B8C84982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0716D5C5-063B-A773-5CA2-65D8DA46C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CD92FCFA-DC71-80E7-6922-0FC110D9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34466541-43EF-FB57-B27D-854668E02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4C953A75-AB4B-5B88-9DD4-090F289D2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5BD9D9F2-E162-1084-DC14-2CB6045C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3DE7A7A9-B461-BF70-EC49-1819773E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FD2957F1-5F77-AD47-DFA5-6AB0204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61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2765FF5-2FEA-B2CF-4856-93672104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189E9929-4214-EA19-85B5-A9705C54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7EC83777-A38A-CB43-A8A4-ECAEBF55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2D3F8416-CB59-678C-4286-D8B0F9D5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39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21A755B6-0E6E-AC94-3B45-0C8C6770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1CD46F54-2334-9924-7461-696D0C15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96E9155B-4A92-78E5-E69E-D5FABB11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51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38A9322-78B1-4F8F-EA89-AB83D33C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C849EF9-1A97-63C9-579B-644E5353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8902F572-22E5-F956-880D-BA79B7A0D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158F0F04-32B8-8045-5B99-8E52A29F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EE9426FB-B434-78E5-D477-ACCE4A45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6A6DB0D7-5845-B967-66ED-4121BD1B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580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D7EC4FD-7AA3-48A2-EE0A-7DA34A7C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F48AB9FC-2EF2-8030-3E24-895EF008B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880AEE63-7517-B7F7-6441-E3DE7EB23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1A2AB3AB-0F00-FA3B-8089-BF335C2A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E682B11-1E55-FB1A-0D37-F514558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9FCF3A09-BA3B-024A-40BA-6631C886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80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BB0D37-50CB-4201-A8C1-FA38462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C4556CD5-53B2-3651-6E62-19F9F2AD5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0875F58-1521-B8D6-DDCD-F56EE2AB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838B671-4092-E020-AE92-4BC13D5B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BC0DBA91-91F5-1FB5-BA14-9BF2C525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83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72F3CCE3-DBCD-CC3F-2259-492C08C33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86A51EBB-F112-C645-F3CB-7CCFCB3D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AAEC7ED-9BFE-F56C-21C2-507CF8C6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693D1234-CC9B-9B3C-43F6-52AFAEA5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55E84CE6-A864-58A5-B74F-1DFD8185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28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D868989D-0DEF-0A0C-AF47-80CEC5B7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582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DE217CCD-6C7F-5A23-1CCC-B1073128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00751B5-15A4-528D-B330-AEFC9799E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fld id="{D27EAD16-501C-4E53-89DF-A09081A3B10F}" type="datetimeFigureOut">
              <a:rPr lang="es-ES" smtClean="0"/>
              <a:pPr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CD7F330-0F71-770B-E10C-292D97108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r>
              <a:rPr lang="es-ES" dirty="0" err="1" smtClean="0"/>
              <a:t>By</a:t>
            </a:r>
            <a:r>
              <a:rPr lang="es-ES" dirty="0" smtClean="0"/>
              <a:t>: Gabriela </a:t>
            </a:r>
            <a:r>
              <a:rPr lang="es-ES" dirty="0" err="1" smtClean="0"/>
              <a:t>Celano</a:t>
            </a:r>
            <a:r>
              <a:rPr lang="es-ES" dirty="0" smtClean="0"/>
              <a:t> 2026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AC11164-04FC-91C8-5394-5ACA9F872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fld id="{1A7625BB-6DAE-4A91-B07E-0F42D6DE1FD6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7" name="6 Image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425" y="523875"/>
            <a:ext cx="1123950" cy="11239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BeeZ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eeZee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eeZee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eeZee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BeeZee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BeeZee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MC-maker/bricoacademy_projec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DD498-372C-5C43-E8C9-111F715F9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 smtClean="0"/>
              <a:t>Brico</a:t>
            </a:r>
            <a:r>
              <a:rPr lang="es-ES" dirty="0" smtClean="0"/>
              <a:t> </a:t>
            </a:r>
            <a:r>
              <a:rPr lang="es-ES" dirty="0" err="1" smtClean="0"/>
              <a:t>Academy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0FBDDD0-7C82-84F8-2F23-63B579106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Gabriela María </a:t>
            </a:r>
            <a:r>
              <a:rPr lang="es-ES" dirty="0" err="1" smtClean="0"/>
              <a:t>Celano</a:t>
            </a:r>
            <a:r>
              <a:rPr lang="es-ES" dirty="0" smtClean="0"/>
              <a:t> Díaz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234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práctica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876300" y="1727892"/>
            <a:ext cx="10458450" cy="337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latin typeface="ABeeZee" pitchFamily="2" charset="0"/>
              </a:rPr>
              <a:t>La aplicación </a:t>
            </a:r>
            <a:r>
              <a:rPr lang="es-ES" dirty="0" err="1">
                <a:latin typeface="ABeeZee" pitchFamily="2" charset="0"/>
              </a:rPr>
              <a:t>BricoAcademy</a:t>
            </a:r>
            <a:r>
              <a:rPr lang="es-ES" dirty="0">
                <a:latin typeface="ABeeZee" pitchFamily="2" charset="0"/>
              </a:rPr>
              <a:t> es una pequeña plataforma de gestión orientada a un centro de formación, </a:t>
            </a:r>
            <a:r>
              <a:rPr lang="es-ES" dirty="0" smtClean="0">
                <a:latin typeface="ABeeZee" pitchFamily="2" charset="0"/>
              </a:rPr>
              <a:t>permite </a:t>
            </a:r>
            <a:r>
              <a:rPr lang="es-ES" dirty="0">
                <a:latin typeface="ABeeZee" pitchFamily="2" charset="0"/>
              </a:rPr>
              <a:t>administrar profesores y cursos de forma sencilla mediante una interfaz web conectada a una API </a:t>
            </a:r>
            <a:r>
              <a:rPr lang="es-ES" dirty="0" err="1">
                <a:latin typeface="ABeeZee" pitchFamily="2" charset="0"/>
              </a:rPr>
              <a:t>REST.El</a:t>
            </a:r>
            <a:r>
              <a:rPr lang="es-ES" dirty="0">
                <a:latin typeface="ABeeZee" pitchFamily="2" charset="0"/>
              </a:rPr>
              <a:t> proyecto se ha desarrollado siguiendo la estructura y la base proporcionada en clase, utilizando una arquitectura </a:t>
            </a:r>
            <a:r>
              <a:rPr lang="es-ES" dirty="0" err="1">
                <a:latin typeface="ABeeZee" pitchFamily="2" charset="0"/>
              </a:rPr>
              <a:t>backend</a:t>
            </a:r>
            <a:r>
              <a:rPr lang="es-ES" dirty="0">
                <a:latin typeface="ABeeZee" pitchFamily="2" charset="0"/>
              </a:rPr>
              <a:t>–</a:t>
            </a:r>
            <a:r>
              <a:rPr lang="es-ES" dirty="0" err="1">
                <a:latin typeface="ABeeZee" pitchFamily="2" charset="0"/>
              </a:rPr>
              <a:t>frontend</a:t>
            </a:r>
            <a:r>
              <a:rPr lang="es-ES" dirty="0">
                <a:latin typeface="ABeeZee" pitchFamily="2" charset="0"/>
              </a:rPr>
              <a:t> separada, donde el </a:t>
            </a:r>
            <a:r>
              <a:rPr lang="es-ES" dirty="0" err="1">
                <a:latin typeface="ABeeZee" pitchFamily="2" charset="0"/>
              </a:rPr>
              <a:t>frontend</a:t>
            </a:r>
            <a:r>
              <a:rPr lang="es-ES" dirty="0">
                <a:latin typeface="ABeeZee" pitchFamily="2" charset="0"/>
              </a:rPr>
              <a:t> se encarga de la interacción con el usuario y el </a:t>
            </a:r>
            <a:r>
              <a:rPr lang="es-ES" dirty="0" err="1">
                <a:latin typeface="ABeeZee" pitchFamily="2" charset="0"/>
              </a:rPr>
              <a:t>backend</a:t>
            </a:r>
            <a:r>
              <a:rPr lang="es-ES" dirty="0">
                <a:latin typeface="ABeeZee" pitchFamily="2" charset="0"/>
              </a:rPr>
              <a:t> de la lógica de negocio y el acceso a la base de </a:t>
            </a:r>
            <a:r>
              <a:rPr lang="es-ES" dirty="0" err="1">
                <a:latin typeface="ABeeZee" pitchFamily="2" charset="0"/>
              </a:rPr>
              <a:t>datos.Más</a:t>
            </a:r>
            <a:r>
              <a:rPr lang="es-ES" dirty="0">
                <a:latin typeface="ABeeZee" pitchFamily="2" charset="0"/>
              </a:rPr>
              <a:t> que centrarse en añadir muchas funcionalidades, el objetivo del proyecto ha sido practicar la estructura completa de una aplicación real, desde el modelo de datos hasta los formularios de alta y edición.</a:t>
            </a:r>
          </a:p>
        </p:txBody>
      </p:sp>
    </p:spTree>
    <p:extLst>
      <p:ext uri="{BB962C8B-B14F-4D97-AF65-F5344CB8AC3E}">
        <p14:creationId xmlns:p14="http://schemas.microsoft.com/office/powerpoint/2010/main" val="402893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práctica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438150" y="1499292"/>
            <a:ext cx="114871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1" dirty="0">
                <a:latin typeface="ABeeZee" pitchFamily="2" charset="0"/>
              </a:rPr>
              <a:t>Gestión de </a:t>
            </a:r>
            <a:r>
              <a:rPr lang="es-ES" sz="1600" b="1" dirty="0" smtClean="0">
                <a:latin typeface="ABeeZee" pitchFamily="2" charset="0"/>
              </a:rPr>
              <a:t>profesores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En </a:t>
            </a:r>
            <a:r>
              <a:rPr lang="es-ES" sz="1600" dirty="0">
                <a:latin typeface="ABeeZee" pitchFamily="2" charset="0"/>
              </a:rPr>
              <a:t>la parte de profesores, la aplicación permite</a:t>
            </a:r>
            <a:r>
              <a:rPr lang="es-ES" sz="1600" dirty="0" smtClean="0">
                <a:latin typeface="ABeeZee" pitchFamily="2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Dar </a:t>
            </a:r>
            <a:r>
              <a:rPr lang="es-ES" sz="1600" dirty="0">
                <a:latin typeface="ABeeZee" pitchFamily="2" charset="0"/>
              </a:rPr>
              <a:t>de alta nuevos profesores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Editar </a:t>
            </a:r>
            <a:r>
              <a:rPr lang="es-ES" sz="1600" dirty="0">
                <a:latin typeface="ABeeZee" pitchFamily="2" charset="0"/>
              </a:rPr>
              <a:t>los datos de un profesor existente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Listar </a:t>
            </a:r>
            <a:r>
              <a:rPr lang="es-ES" sz="1600" dirty="0" err="1">
                <a:latin typeface="ABeeZee" pitchFamily="2" charset="0"/>
              </a:rPr>
              <a:t>profesores.Eliminar</a:t>
            </a:r>
            <a:r>
              <a:rPr lang="es-ES" sz="1600" dirty="0">
                <a:latin typeface="ABeeZee" pitchFamily="2" charset="0"/>
              </a:rPr>
              <a:t> profesores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u="sng" dirty="0" smtClean="0">
                <a:latin typeface="ABeeZee" pitchFamily="2" charset="0"/>
              </a:rPr>
              <a:t>Decisiones </a:t>
            </a:r>
            <a:r>
              <a:rPr lang="es-ES" sz="1600" u="sng" dirty="0">
                <a:latin typeface="ABeeZee" pitchFamily="2" charset="0"/>
              </a:rPr>
              <a:t>de diseño </a:t>
            </a:r>
            <a:r>
              <a:rPr lang="es-ES" sz="1600" u="sng" dirty="0" smtClean="0">
                <a:latin typeface="ABeeZee" pitchFamily="2" charset="0"/>
              </a:rPr>
              <a:t>destacables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Cada </a:t>
            </a:r>
            <a:r>
              <a:rPr lang="es-ES" sz="1600" dirty="0">
                <a:latin typeface="ABeeZee" pitchFamily="2" charset="0"/>
              </a:rPr>
              <a:t>profesor tiene un estado (ALTA, PERMISO, BAJA) y un campo active, lo que permite simular una baja lógica sin eliminar directamente los datos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Se </a:t>
            </a:r>
            <a:r>
              <a:rPr lang="es-ES" sz="1600" dirty="0">
                <a:latin typeface="ABeeZee" pitchFamily="2" charset="0"/>
              </a:rPr>
              <a:t>han incluido restricciones en el </a:t>
            </a:r>
            <a:r>
              <a:rPr lang="es-ES" sz="1600" dirty="0" err="1">
                <a:latin typeface="ABeeZee" pitchFamily="2" charset="0"/>
              </a:rPr>
              <a:t>modelo:</a:t>
            </a:r>
            <a:r>
              <a:rPr lang="es-ES" sz="1600" i="1" dirty="0" err="1">
                <a:latin typeface="ABeeZee" pitchFamily="2" charset="0"/>
              </a:rPr>
              <a:t>El</a:t>
            </a:r>
            <a:r>
              <a:rPr lang="es-ES" sz="1600" i="1" dirty="0">
                <a:latin typeface="ABeeZee" pitchFamily="2" charset="0"/>
              </a:rPr>
              <a:t> DNI y el email son únicos</a:t>
            </a:r>
            <a:r>
              <a:rPr lang="es-ES" sz="1600" i="1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Las </a:t>
            </a:r>
            <a:r>
              <a:rPr lang="es-ES" sz="1600" dirty="0">
                <a:latin typeface="ABeeZee" pitchFamily="2" charset="0"/>
              </a:rPr>
              <a:t>horas lectivas y la tarifa por hora no pueden ser negativas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1600" dirty="0" smtClean="0">
              <a:latin typeface="ABeeZee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En </a:t>
            </a:r>
            <a:r>
              <a:rPr lang="es-ES" sz="1600" dirty="0" err="1">
                <a:latin typeface="ABeeZee" pitchFamily="2" charset="0"/>
              </a:rPr>
              <a:t>frontend</a:t>
            </a:r>
            <a:r>
              <a:rPr lang="es-ES" sz="1600" dirty="0">
                <a:latin typeface="ABeeZee" pitchFamily="2" charset="0"/>
              </a:rPr>
              <a:t> se aplican validaciones básicas para evitar errores evidentes antes de enviar los datos al </a:t>
            </a:r>
            <a:r>
              <a:rPr lang="es-ES" sz="1600" dirty="0" err="1">
                <a:latin typeface="ABeeZee" pitchFamily="2" charset="0"/>
              </a:rPr>
              <a:t>backend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Estas </a:t>
            </a:r>
            <a:r>
              <a:rPr lang="es-ES" sz="1600" dirty="0">
                <a:latin typeface="ABeeZee" pitchFamily="2" charset="0"/>
              </a:rPr>
              <a:t>decisiones buscan que el modelo sea coherente con un caso real de gestión de personal docente.</a:t>
            </a:r>
          </a:p>
        </p:txBody>
      </p:sp>
    </p:spTree>
    <p:extLst>
      <p:ext uri="{BB962C8B-B14F-4D97-AF65-F5344CB8AC3E}">
        <p14:creationId xmlns:p14="http://schemas.microsoft.com/office/powerpoint/2010/main" val="320659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práctica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876300" y="1727892"/>
            <a:ext cx="10458450" cy="4117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1" dirty="0">
                <a:latin typeface="ABeeZee" pitchFamily="2" charset="0"/>
              </a:rPr>
              <a:t>Gestión de </a:t>
            </a:r>
            <a:r>
              <a:rPr lang="es-ES" sz="1600" b="1" dirty="0" smtClean="0">
                <a:latin typeface="ABeeZee" pitchFamily="2" charset="0"/>
              </a:rPr>
              <a:t>cursos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En </a:t>
            </a:r>
            <a:r>
              <a:rPr lang="es-ES" sz="1600" dirty="0">
                <a:latin typeface="ABeeZee" pitchFamily="2" charset="0"/>
              </a:rPr>
              <a:t>la parte de cursos, la aplicación permite</a:t>
            </a:r>
            <a:r>
              <a:rPr lang="es-ES" sz="1600" dirty="0" smtClean="0">
                <a:latin typeface="ABeeZee" pitchFamily="2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Crear </a:t>
            </a:r>
            <a:r>
              <a:rPr lang="es-ES" sz="1600" dirty="0">
                <a:latin typeface="ABeeZee" pitchFamily="2" charset="0"/>
              </a:rPr>
              <a:t>cursos nuevos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Editar </a:t>
            </a:r>
            <a:r>
              <a:rPr lang="es-ES" sz="1600" dirty="0">
                <a:latin typeface="ABeeZee" pitchFamily="2" charset="0"/>
              </a:rPr>
              <a:t>cursos existentes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Asociar </a:t>
            </a:r>
            <a:r>
              <a:rPr lang="es-ES" sz="1600" dirty="0">
                <a:latin typeface="ABeeZee" pitchFamily="2" charset="0"/>
              </a:rPr>
              <a:t>un curso a un profesor (de forma opcional</a:t>
            </a:r>
            <a:r>
              <a:rPr lang="es-ES" sz="1600" dirty="0" smtClean="0">
                <a:latin typeface="ABeeZee" pitchFamily="2" charset="0"/>
              </a:rPr>
              <a:t>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 smtClean="0">
                <a:latin typeface="ABeeZee" pitchFamily="2" charset="0"/>
              </a:rPr>
              <a:t>Definir </a:t>
            </a:r>
            <a:r>
              <a:rPr lang="es-ES" sz="1600" dirty="0">
                <a:latin typeface="ABeeZee" pitchFamily="2" charset="0"/>
              </a:rPr>
              <a:t>modalidad (presencial u online), duración, precio y fecha de inicio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u="sng" dirty="0" smtClean="0">
                <a:latin typeface="ABeeZee" pitchFamily="2" charset="0"/>
              </a:rPr>
              <a:t>Decisiones </a:t>
            </a:r>
            <a:r>
              <a:rPr lang="es-ES" sz="1600" u="sng" dirty="0">
                <a:latin typeface="ABeeZee" pitchFamily="2" charset="0"/>
              </a:rPr>
              <a:t>de diseño </a:t>
            </a:r>
            <a:r>
              <a:rPr lang="es-ES" sz="1600" u="sng" dirty="0" smtClean="0">
                <a:latin typeface="ABeeZee" pitchFamily="2" charset="0"/>
              </a:rPr>
              <a:t>destacables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La </a:t>
            </a:r>
            <a:r>
              <a:rPr lang="es-ES" sz="1600" dirty="0">
                <a:latin typeface="ABeeZee" pitchFamily="2" charset="0"/>
              </a:rPr>
              <a:t>relación entre curso y profesor es opcional, permitiendo crear cursos sin asignarlos inicialmente a un docente</a:t>
            </a:r>
            <a:r>
              <a:rPr lang="es-ES" sz="1600" dirty="0" smtClean="0">
                <a:latin typeface="ABeeZee" pitchFamily="2" charset="0"/>
              </a:rPr>
              <a:t>. Los </a:t>
            </a:r>
            <a:r>
              <a:rPr lang="es-ES" sz="1600" dirty="0">
                <a:latin typeface="ABeeZee" pitchFamily="2" charset="0"/>
              </a:rPr>
              <a:t>campos numéricos (duración y precio) están validados para evitar valores negativos</a:t>
            </a:r>
            <a:r>
              <a:rPr lang="es-ES" sz="1600" dirty="0" smtClean="0">
                <a:latin typeface="ABeeZee" pitchFamily="2" charset="0"/>
              </a:rPr>
              <a:t>. Se </a:t>
            </a:r>
            <a:r>
              <a:rPr lang="es-ES" sz="1600" dirty="0">
                <a:latin typeface="ABeeZee" pitchFamily="2" charset="0"/>
              </a:rPr>
              <a:t>ha priorizado que el formulario funcione correctamente y guarde los datos en base de datos, aunque el diseño visual no ha sido el foco principal.</a:t>
            </a:r>
          </a:p>
        </p:txBody>
      </p:sp>
    </p:spTree>
    <p:extLst>
      <p:ext uri="{BB962C8B-B14F-4D97-AF65-F5344CB8AC3E}">
        <p14:creationId xmlns:p14="http://schemas.microsoft.com/office/powerpoint/2010/main" val="127255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49C67B-1453-8106-B57C-69B902CD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99D44BE-0AFF-163C-6C5F-14289494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relacional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7642" y1="23377" x2="88943" y2="23701"/>
                        <a14:foregroundMark x1="66016" y1="87013" x2="87154" y2="85390"/>
                        <a14:foregroundMark x1="12195" y1="87338" x2="24878" y2="8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04" t="16582" r="7343" b="6871"/>
          <a:stretch/>
        </p:blipFill>
        <p:spPr>
          <a:xfrm>
            <a:off x="1273071" y="1543050"/>
            <a:ext cx="9738797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9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D3DB00-BFE8-BAE5-ADA6-110441B6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908FE76-5B5D-A953-2A54-CED2E8A6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227741" cy="777875"/>
          </a:xfrm>
        </p:spPr>
        <p:txBody>
          <a:bodyPr/>
          <a:lstStyle/>
          <a:p>
            <a:r>
              <a:rPr lang="es-ES" dirty="0"/>
              <a:t>Tabla puntuación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082669"/>
              </p:ext>
            </p:extLst>
          </p:nvPr>
        </p:nvGraphicFramePr>
        <p:xfrm>
          <a:off x="1504951" y="685787"/>
          <a:ext cx="8667748" cy="5981712"/>
        </p:xfrm>
        <a:graphic>
          <a:graphicData uri="http://schemas.openxmlformats.org/drawingml/2006/table">
            <a:tbl>
              <a:tblPr/>
              <a:tblGrid>
                <a:gridCol w="3088886"/>
                <a:gridCol w="1197814"/>
                <a:gridCol w="1082955"/>
                <a:gridCol w="1575209"/>
                <a:gridCol w="1722884"/>
              </a:tblGrid>
              <a:tr h="245655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TABLA DE PUNTUACIÓN DE LA PRÁCTICA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APLICACIÓN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PUNTOS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PTOS. POSIBLES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PRESENTACIÓN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ESQUEMA RELACIONAL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TABLA PUNTUCIÓN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ENLACE REPOSITORIO GITHUB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MÁXIMO DE PUNTUACIÓN: 2 PUNTOS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TOTAL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2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7612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FF0000"/>
                          </a:solidFill>
                          <a:effectLst/>
                          <a:latin typeface="ABeeZee" pitchFamily="2" charset="0"/>
                        </a:rPr>
                        <a:t>NOMBRE ENTIDAD 1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FF0000"/>
                          </a:solidFill>
                          <a:effectLst/>
                          <a:latin typeface="ABeeZee" pitchFamily="2" charset="0"/>
                        </a:rPr>
                        <a:t>NOMBRE ENTIDAD 2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PUNTOS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PTOS. POSIBLES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t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ALTA REGISTRO CON VALIDACIÓN</a:t>
                      </a:r>
                    </a:p>
                  </a:txBody>
                  <a:tcPr marL="8935" marR="8935" marT="89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0,75/ENTIDAD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MODIFICACIÓN REGISTRO BUSCADO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0,50/ENTIDAD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BORRADO DE UN REGISTRO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sng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0,50/ENTIDAD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LISTADO SIN PARAMETRIZAR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0,50/ENTIDAD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LISTADO PARAMETRIZADO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0,75/ENTIDAD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MÁXIMO DE PUNTUACIÓN: 6 PUNTOS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TOTAL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6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7612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FF0000"/>
                          </a:solidFill>
                          <a:effectLst/>
                          <a:latin typeface="ABeeZee" pitchFamily="2" charset="0"/>
                        </a:rPr>
                        <a:t>NOMBRE ENTIDAD 1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FF0000"/>
                          </a:solidFill>
                          <a:effectLst/>
                          <a:latin typeface="ABeeZee" pitchFamily="2" charset="0"/>
                        </a:rPr>
                        <a:t>NOMBRE ENTIDAD 2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PUNTOS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PTOS. POSIBLES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LISTADO PARAMETRIZADO FECHAS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LISTADO PAGINADO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LISTADO CARDS PAGINADO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LISTADO CON DATAGRID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LANDPAGE+CARRUSEL+TEXTO+PIE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MAQUETACIÓN RESPONSIVE GRID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X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ALTERNAR TEMA OSCURO Y CLARO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0,5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0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373"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MÁXIMO DE PUNTUACIÓN: 2 PUNTOS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 </a:t>
                      </a:r>
                    </a:p>
                  </a:txBody>
                  <a:tcPr marL="8935" marR="8935" marT="89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TOTAL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ABeeZee" pitchFamily="2" charset="0"/>
                        </a:rPr>
                        <a:t>2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3373">
                <a:tc gridSpan="4">
                  <a:txBody>
                    <a:bodyPr/>
                    <a:lstStyle/>
                    <a:p>
                      <a:pPr algn="r" fontAlgn="b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TOTAL PUNTOS POSIBLES PRÁCTICA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BeeZee" pitchFamily="2" charset="0"/>
                        </a:rPr>
                        <a:t>10</a:t>
                      </a:r>
                    </a:p>
                  </a:txBody>
                  <a:tcPr marL="8935" marR="8935" marT="89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83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2DB818-229E-F6DF-7B2E-682B526F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E03BA2-6732-1CFC-0E37-C33416FA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GitHub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A2B789AC-C061-D2C7-7279-F55985B639EF}"/>
              </a:ext>
            </a:extLst>
          </p:cNvPr>
          <p:cNvSpPr txBox="1"/>
          <p:nvPr/>
        </p:nvSpPr>
        <p:spPr>
          <a:xfrm>
            <a:off x="1327355" y="1858297"/>
            <a:ext cx="953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2"/>
              </a:rPr>
              <a:t>https://</a:t>
            </a:r>
            <a:r>
              <a:rPr lang="es-ES" dirty="0" smtClean="0">
                <a:hlinkClick r:id="rId2"/>
              </a:rPr>
              <a:t>github.com/GMC-maker/bricoacademy_project</a:t>
            </a:r>
            <a:endParaRPr lang="es-ES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737" y="2833688"/>
            <a:ext cx="6718527" cy="1190625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26" y="1248773"/>
            <a:ext cx="1219048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3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</a:t>
            </a:r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876300" y="1823142"/>
            <a:ext cx="104584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El </a:t>
            </a:r>
            <a:r>
              <a:rPr lang="es-ES" sz="1600" dirty="0">
                <a:latin typeface="ABeeZee" pitchFamily="2" charset="0"/>
              </a:rPr>
              <a:t>proyecto cumple con los requisitos funcionales principales y permite trabajar el flujo completo </a:t>
            </a:r>
            <a:endParaRPr lang="es-ES" sz="1600" dirty="0" smtClean="0">
              <a:latin typeface="ABeeZee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ES" sz="1600" i="1" dirty="0" err="1" smtClean="0">
                <a:latin typeface="ABeeZee" pitchFamily="2" charset="0"/>
              </a:rPr>
              <a:t>frontend</a:t>
            </a:r>
            <a:r>
              <a:rPr lang="es-ES" sz="1600" i="1" dirty="0" smtClean="0">
                <a:latin typeface="ABeeZee" pitchFamily="2" charset="0"/>
              </a:rPr>
              <a:t> </a:t>
            </a:r>
            <a:r>
              <a:rPr lang="es-ES" sz="1600" i="1" dirty="0">
                <a:latin typeface="ABeeZee" pitchFamily="2" charset="0"/>
              </a:rPr>
              <a:t>→ </a:t>
            </a:r>
            <a:r>
              <a:rPr lang="es-ES" sz="1600" i="1" dirty="0" err="1">
                <a:latin typeface="ABeeZee" pitchFamily="2" charset="0"/>
              </a:rPr>
              <a:t>backend</a:t>
            </a:r>
            <a:r>
              <a:rPr lang="es-ES" sz="1600" i="1" dirty="0">
                <a:latin typeface="ABeeZee" pitchFamily="2" charset="0"/>
              </a:rPr>
              <a:t> → base de datos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ABeeZee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Por </a:t>
            </a:r>
            <a:r>
              <a:rPr lang="es-ES" sz="1600" dirty="0">
                <a:latin typeface="ABeeZee" pitchFamily="2" charset="0"/>
              </a:rPr>
              <a:t>falta de tiempo, han quedado pendientes algunas mejoras</a:t>
            </a:r>
            <a:r>
              <a:rPr lang="es-ES" sz="1600" dirty="0" smtClean="0">
                <a:latin typeface="ABeeZee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Mejorar </a:t>
            </a:r>
            <a:r>
              <a:rPr lang="es-ES" sz="1600" dirty="0">
                <a:latin typeface="ABeeZee" pitchFamily="2" charset="0"/>
              </a:rPr>
              <a:t>el </a:t>
            </a:r>
            <a:r>
              <a:rPr lang="es-ES" sz="1600" dirty="0" err="1">
                <a:latin typeface="ABeeZee" pitchFamily="2" charset="0"/>
              </a:rPr>
              <a:t>layout</a:t>
            </a:r>
            <a:r>
              <a:rPr lang="es-ES" sz="1600" dirty="0">
                <a:latin typeface="ABeeZee" pitchFamily="2" charset="0"/>
              </a:rPr>
              <a:t> </a:t>
            </a:r>
            <a:r>
              <a:rPr lang="es-ES" sz="1600" dirty="0" err="1">
                <a:latin typeface="ABeeZee" pitchFamily="2" charset="0"/>
              </a:rPr>
              <a:t>responsive</a:t>
            </a:r>
            <a:r>
              <a:rPr lang="es-ES" sz="1600" dirty="0">
                <a:latin typeface="ABeeZee" pitchFamily="2" charset="0"/>
              </a:rPr>
              <a:t>, especialmente en resoluciones pequeñas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Unificar </a:t>
            </a:r>
            <a:r>
              <a:rPr lang="es-ES" sz="1600" dirty="0">
                <a:latin typeface="ABeeZee" pitchFamily="2" charset="0"/>
              </a:rPr>
              <a:t>y mejorar la gestión de errores entre </a:t>
            </a:r>
            <a:r>
              <a:rPr lang="es-ES" sz="1600" dirty="0" err="1">
                <a:latin typeface="ABeeZee" pitchFamily="2" charset="0"/>
              </a:rPr>
              <a:t>backend</a:t>
            </a:r>
            <a:r>
              <a:rPr lang="es-ES" sz="1600" dirty="0">
                <a:latin typeface="ABeeZee" pitchFamily="2" charset="0"/>
              </a:rPr>
              <a:t> y </a:t>
            </a:r>
            <a:r>
              <a:rPr lang="es-ES" sz="1600" dirty="0" err="1">
                <a:latin typeface="ABeeZee" pitchFamily="2" charset="0"/>
              </a:rPr>
              <a:t>frontend</a:t>
            </a:r>
            <a:r>
              <a:rPr lang="es-ES" sz="1600" dirty="0">
                <a:latin typeface="ABeeZee" pitchFamily="2" charset="0"/>
              </a:rPr>
              <a:t> </a:t>
            </a:r>
            <a:r>
              <a:rPr lang="es-ES" sz="1600" dirty="0" smtClean="0">
                <a:latin typeface="ABeeZee" pitchFamily="2" charset="0"/>
              </a:rPr>
              <a:t>(algunos casos no se ve de manera especifica).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Añadir </a:t>
            </a:r>
            <a:r>
              <a:rPr lang="es-ES" sz="1600" dirty="0">
                <a:latin typeface="ABeeZee" pitchFamily="2" charset="0"/>
              </a:rPr>
              <a:t>validaciones más avanzadas o mensajes de ayuda más específicos para el usuario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Pulir </a:t>
            </a:r>
            <a:r>
              <a:rPr lang="es-ES" sz="1600" dirty="0">
                <a:latin typeface="ABeeZee" pitchFamily="2" charset="0"/>
              </a:rPr>
              <a:t>algunos detalles visuales de los formularios.</a:t>
            </a:r>
          </a:p>
        </p:txBody>
      </p:sp>
    </p:spTree>
    <p:extLst>
      <p:ext uri="{BB962C8B-B14F-4D97-AF65-F5344CB8AC3E}">
        <p14:creationId xmlns:p14="http://schemas.microsoft.com/office/powerpoint/2010/main" val="30410968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623</Words>
  <Application>Microsoft Office PowerPoint</Application>
  <PresentationFormat>Personalizado</PresentationFormat>
  <Paragraphs>144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Brico Academy</vt:lpstr>
      <vt:lpstr>Descripción de la práctica</vt:lpstr>
      <vt:lpstr>Descripción de la práctica</vt:lpstr>
      <vt:lpstr>Descripción de la práctica</vt:lpstr>
      <vt:lpstr>Esquema relacional</vt:lpstr>
      <vt:lpstr>Tabla puntuación</vt:lpstr>
      <vt:lpstr>GitHub</vt:lpstr>
      <vt:lpstr>Conclusiones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Brico Academy</dc:title>
  <dc:creator>Carlos Alberto Rodriguez Parrales</dc:creator>
  <cp:lastModifiedBy>Windows 11</cp:lastModifiedBy>
  <cp:revision>8</cp:revision>
  <dcterms:created xsi:type="dcterms:W3CDTF">2025-01-23T00:19:39Z</dcterms:created>
  <dcterms:modified xsi:type="dcterms:W3CDTF">2026-01-31T21:31:30Z</dcterms:modified>
</cp:coreProperties>
</file>