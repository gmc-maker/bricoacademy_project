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1" r:id="rId5"/>
    <p:sldId id="257" r:id="rId6"/>
    <p:sldId id="262" r:id="rId7"/>
    <p:sldId id="264" r:id="rId8"/>
    <p:sldId id="258" r:id="rId9"/>
    <p:sldId id="266" r:id="rId10"/>
    <p:sldId id="268" r:id="rId11"/>
    <p:sldId id="260" r:id="rId12"/>
    <p:sldId id="263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F9B"/>
    <a:srgbClr val="F6F7F3"/>
    <a:srgbClr val="ADA6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353" autoAdjust="0"/>
  </p:normalViewPr>
  <p:slideViewPr>
    <p:cSldViewPr snapToGrid="0">
      <p:cViewPr>
        <p:scale>
          <a:sx n="50" d="100"/>
          <a:sy n="50" d="100"/>
        </p:scale>
        <p:origin x="-588" y="-1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86EB331-0682-A448-61B7-01BC3BEF5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E6868FC-34A2-171C-8731-A0B751C94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0CB0C789-287C-8479-60B5-F5B45BA2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9B132DC-5B6A-33ED-0723-BCDEC99E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F5DAAD0E-6487-6689-3F89-79B86827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122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AC1DF07-ACE6-7328-D1F2-F1D1E379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BB0AA4E-39B1-4D80-A630-A0FFB9D0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E4156E67-49DB-D950-2759-9128CFE8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E44AF6A9-6516-D378-8D6D-9CB7DAC8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09FDA71A-4722-16CF-7BD9-96D29FD6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66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51E33F-4662-2CC7-5F88-432D6D6E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E11CB46C-4FB0-BF1C-D5FC-38FA7FCFF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3836A5DC-B588-A10A-1B82-CB4B7F0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788797F7-EEAE-6BE3-FE13-543DA260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4066000-F893-AF41-E4C6-ED5070F6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39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6A1579A-B9A6-9362-67D8-3E406EC70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397547E2-AF81-48CF-CE7F-36BA15F8CA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2A2B1624-3814-0E23-F9C4-B0C32530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2C13CEB9-4E76-BDE0-5CAF-AE6A3A63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2A1CCC3-FCAA-18EB-4933-6705D36E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0AE70C17-25FA-00EA-0574-FEB8C9A7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518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8D4712F-5DCE-8252-945F-B8C84982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0716D5C5-063B-A773-5CA2-65D8DA46C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CD92FCFA-DC71-80E7-6922-0FC110D9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34466541-43EF-FB57-B27D-854668E02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4C953A75-AB4B-5B88-9DD4-090F289D2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5BD9D9F2-E162-1084-DC14-2CB6045C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3DE7A7A9-B461-BF70-EC49-1819773E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FD2957F1-5F77-AD47-DFA5-6AB0204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61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2765FF5-2FEA-B2CF-4856-93672104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189E9929-4214-EA19-85B5-A9705C54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7EC83777-A38A-CB43-A8A4-ECAEBF550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2D3F8416-CB59-678C-4286-D8B0F9D5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39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21A755B6-0E6E-AC94-3B45-0C8C6770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1CD46F54-2334-9924-7461-696D0C15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96E9155B-4A92-78E5-E69E-D5FABB11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651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38A9322-78B1-4F8F-EA89-AB83D33C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C849EF9-1A97-63C9-579B-644E53537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8902F572-22E5-F956-880D-BA79B7A0D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158F0F04-32B8-8045-5B99-8E52A29F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EE9426FB-B434-78E5-D477-ACCE4A458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6A6DB0D7-5845-B967-66ED-4121BD1B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580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D7EC4FD-7AA3-48A2-EE0A-7DA34A7C0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F48AB9FC-2EF2-8030-3E24-895EF008B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880AEE63-7517-B7F7-6441-E3DE7EB23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1A2AB3AB-0F00-FA3B-8089-BF335C2AC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E682B11-1E55-FB1A-0D37-F514558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9FCF3A09-BA3B-024A-40BA-6631C886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080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BB0D37-50CB-4201-A8C1-FA384626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C4556CD5-53B2-3651-6E62-19F9F2AD5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0875F58-1521-B8D6-DDCD-F56EE2AB5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838B671-4092-E020-AE92-4BC13D5B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BC0DBA91-91F5-1FB5-BA14-9BF2C525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83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72F3CCE3-DBCD-CC3F-2259-492C08C33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86A51EBB-F112-C645-F3CB-7CCFCB3D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AAEC7ED-9BFE-F56C-21C2-507CF8C6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EAD16-501C-4E53-89DF-A09081A3B10F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693D1234-CC9B-9B3C-43F6-52AFAEA5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55E84CE6-A864-58A5-B74F-1DFD8185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625BB-6DAE-4A91-B07E-0F42D6DE1F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28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D868989D-0DEF-0A0C-AF47-80CEC5B7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92582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DE217CCD-6C7F-5A23-1CCC-B1073128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A00751B5-15A4-528D-B330-AEFC9799E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fld id="{D27EAD16-501C-4E53-89DF-A09081A3B10F}" type="datetimeFigureOut">
              <a:rPr lang="es-ES" smtClean="0"/>
              <a:pPr/>
              <a:t>13/02/2026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CD7F330-0F71-770B-E10C-292D97108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r>
              <a:rPr lang="es-ES" dirty="0" err="1" smtClean="0"/>
              <a:t>By</a:t>
            </a:r>
            <a:r>
              <a:rPr lang="es-ES" dirty="0" smtClean="0"/>
              <a:t>: Gabriela </a:t>
            </a:r>
            <a:r>
              <a:rPr lang="es-ES" dirty="0" err="1" smtClean="0"/>
              <a:t>Celano</a:t>
            </a:r>
            <a:r>
              <a:rPr lang="es-ES" dirty="0" smtClean="0"/>
              <a:t> 2026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6AC11164-04FC-91C8-5394-5ACA9F872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BeeZee" pitchFamily="2" charset="0"/>
              </a:defRPr>
            </a:lvl1pPr>
          </a:lstStyle>
          <a:p>
            <a:fld id="{1A7625BB-6DAE-4A91-B07E-0F42D6DE1FD6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7" name="6 Imagen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8425" y="523875"/>
            <a:ext cx="1123950" cy="11239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BeeZ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eeZee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eeZee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eeZee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BeeZee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BeeZee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GMC-maker/bricoacademy_projec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5DD498-372C-5C43-E8C9-111F715F96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 smtClean="0"/>
              <a:t>Brico</a:t>
            </a:r>
            <a:r>
              <a:rPr lang="es-ES" dirty="0" smtClean="0"/>
              <a:t> </a:t>
            </a:r>
            <a:r>
              <a:rPr lang="es-ES" dirty="0" err="1" smtClean="0"/>
              <a:t>Academy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0FBDDD0-7C82-84F8-2F23-63B579106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Gabriela María </a:t>
            </a:r>
            <a:r>
              <a:rPr lang="es-ES" dirty="0" err="1" smtClean="0"/>
              <a:t>Celano</a:t>
            </a:r>
            <a:r>
              <a:rPr lang="es-ES" dirty="0" smtClean="0"/>
              <a:t> Díaz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234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346075"/>
            <a:ext cx="9258299" cy="1325563"/>
          </a:xfrm>
        </p:spPr>
        <p:txBody>
          <a:bodyPr/>
          <a:lstStyle/>
          <a:p>
            <a:r>
              <a:rPr lang="es-ES" dirty="0" smtClean="0"/>
              <a:t>Resumen de la practica</a:t>
            </a:r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514350" y="2008644"/>
            <a:ext cx="10972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latin typeface="ABeeZee" pitchFamily="2" charset="0"/>
              </a:rPr>
              <a:t>En esta práctica se ha ampliado la aplicación </a:t>
            </a:r>
            <a:r>
              <a:rPr lang="es-ES" dirty="0" err="1">
                <a:latin typeface="ABeeZee" pitchFamily="2" charset="0"/>
              </a:rPr>
              <a:t>BricoAcademy</a:t>
            </a:r>
            <a:r>
              <a:rPr lang="es-ES" dirty="0">
                <a:latin typeface="ABeeZee" pitchFamily="2" charset="0"/>
              </a:rPr>
              <a:t> desarrollada con </a:t>
            </a:r>
            <a:r>
              <a:rPr lang="es-ES" dirty="0" err="1">
                <a:latin typeface="ABeeZee" pitchFamily="2" charset="0"/>
              </a:rPr>
              <a:t>React</a:t>
            </a:r>
            <a:r>
              <a:rPr lang="es-ES" dirty="0">
                <a:latin typeface="ABeeZee" pitchFamily="2" charset="0"/>
              </a:rPr>
              <a:t> y Node.js incorporando visualización de datos mediante </a:t>
            </a:r>
            <a:r>
              <a:rPr lang="es-ES" dirty="0" err="1">
                <a:latin typeface="ABeeZee" pitchFamily="2" charset="0"/>
              </a:rPr>
              <a:t>Recharts</a:t>
            </a:r>
            <a:r>
              <a:rPr lang="es-ES" dirty="0">
                <a:latin typeface="ABeeZee" pitchFamily="2" charset="0"/>
              </a:rPr>
              <a:t> para generar gráficas dinámicas conectadas a la API REST, así como la exportación e impresión de listados utilizando tres métodos distintos (</a:t>
            </a:r>
            <a:r>
              <a:rPr lang="es-ES" dirty="0" err="1">
                <a:latin typeface="ABeeZee" pitchFamily="2" charset="0"/>
              </a:rPr>
              <a:t>window.print</a:t>
            </a:r>
            <a:r>
              <a:rPr lang="es-ES" dirty="0">
                <a:latin typeface="ABeeZee" pitchFamily="2" charset="0"/>
              </a:rPr>
              <a:t>, html2canvas + </a:t>
            </a:r>
            <a:r>
              <a:rPr lang="es-ES" dirty="0" err="1">
                <a:latin typeface="ABeeZee" pitchFamily="2" charset="0"/>
              </a:rPr>
              <a:t>jsPDF</a:t>
            </a:r>
            <a:r>
              <a:rPr lang="es-ES" dirty="0">
                <a:latin typeface="ABeeZee" pitchFamily="2" charset="0"/>
              </a:rPr>
              <a:t> y </a:t>
            </a:r>
            <a:r>
              <a:rPr lang="es-ES" dirty="0" err="1">
                <a:latin typeface="ABeeZee" pitchFamily="2" charset="0"/>
              </a:rPr>
              <a:t>react-pdf</a:t>
            </a:r>
            <a:r>
              <a:rPr lang="es-ES" dirty="0">
                <a:latin typeface="ABeeZee" pitchFamily="2" charset="0"/>
              </a:rPr>
              <a:t>). Además, se han implementado </a:t>
            </a:r>
            <a:r>
              <a:rPr lang="es-ES" dirty="0" err="1">
                <a:latin typeface="ABeeZee" pitchFamily="2" charset="0"/>
              </a:rPr>
              <a:t>tests</a:t>
            </a:r>
            <a:r>
              <a:rPr lang="es-ES" dirty="0">
                <a:latin typeface="ABeeZee" pitchFamily="2" charset="0"/>
              </a:rPr>
              <a:t> de integración de la API con </a:t>
            </a:r>
            <a:r>
              <a:rPr lang="es-ES" dirty="0" err="1">
                <a:latin typeface="ABeeZee" pitchFamily="2" charset="0"/>
              </a:rPr>
              <a:t>Jest</a:t>
            </a:r>
            <a:r>
              <a:rPr lang="es-ES" dirty="0">
                <a:latin typeface="ABeeZee" pitchFamily="2" charset="0"/>
              </a:rPr>
              <a:t> y </a:t>
            </a:r>
            <a:r>
              <a:rPr lang="es-ES" dirty="0" err="1">
                <a:latin typeface="ABeeZee" pitchFamily="2" charset="0"/>
              </a:rPr>
              <a:t>Supertest</a:t>
            </a:r>
            <a:r>
              <a:rPr lang="es-ES" dirty="0">
                <a:latin typeface="ABeeZee" pitchFamily="2" charset="0"/>
              </a:rPr>
              <a:t> sobre la entidad </a:t>
            </a:r>
            <a:r>
              <a:rPr lang="es-ES" dirty="0" err="1">
                <a:latin typeface="ABeeZee" pitchFamily="2" charset="0"/>
              </a:rPr>
              <a:t>Teachers</a:t>
            </a:r>
            <a:r>
              <a:rPr lang="es-ES" dirty="0">
                <a:latin typeface="ABeeZee" pitchFamily="2" charset="0"/>
              </a:rPr>
              <a:t>, se ha documentado el </a:t>
            </a:r>
            <a:r>
              <a:rPr lang="es-ES" dirty="0" err="1">
                <a:latin typeface="ABeeZee" pitchFamily="2" charset="0"/>
              </a:rPr>
              <a:t>frontend</a:t>
            </a:r>
            <a:r>
              <a:rPr lang="es-ES" dirty="0">
                <a:latin typeface="ABeeZee" pitchFamily="2" charset="0"/>
              </a:rPr>
              <a:t> mediante comentarios </a:t>
            </a:r>
            <a:r>
              <a:rPr lang="es-ES" dirty="0" err="1">
                <a:latin typeface="ABeeZee" pitchFamily="2" charset="0"/>
              </a:rPr>
              <a:t>JSDoc</a:t>
            </a:r>
            <a:r>
              <a:rPr lang="es-ES" dirty="0">
                <a:latin typeface="ABeeZee" pitchFamily="2" charset="0"/>
              </a:rPr>
              <a:t> generando la documentación HTML correspondiente, y finalmente se ha preparado el proyecto para su despliegue en </a:t>
            </a:r>
            <a:r>
              <a:rPr lang="es-ES" dirty="0" err="1">
                <a:latin typeface="ABeeZee" pitchFamily="2" charset="0"/>
              </a:rPr>
              <a:t>Docker</a:t>
            </a:r>
            <a:r>
              <a:rPr lang="es-ES" dirty="0">
                <a:latin typeface="ABeeZee" pitchFamily="2" charset="0"/>
              </a:rPr>
              <a:t> y AWS, manteniendo una arquitectura SPA con </a:t>
            </a:r>
            <a:r>
              <a:rPr lang="es-ES" dirty="0" err="1">
                <a:latin typeface="ABeeZee" pitchFamily="2" charset="0"/>
              </a:rPr>
              <a:t>backend</a:t>
            </a:r>
            <a:r>
              <a:rPr lang="es-ES" dirty="0">
                <a:latin typeface="ABeeZee" pitchFamily="2" charset="0"/>
              </a:rPr>
              <a:t> desacoplado y buenas prácticas de organización y </a:t>
            </a:r>
            <a:r>
              <a:rPr lang="es-ES" dirty="0" err="1">
                <a:latin typeface="ABeeZee" pitchFamily="2" charset="0"/>
              </a:rPr>
              <a:t>testing</a:t>
            </a:r>
            <a:r>
              <a:rPr lang="es-ES" dirty="0">
                <a:latin typeface="ABeeZee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91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Captura de las graficas generadas</a:t>
            </a:r>
            <a:endParaRPr lang="es-E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250043"/>
            <a:ext cx="9963150" cy="5313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775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Botones</a:t>
            </a:r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128099"/>
            <a:ext cx="10398125" cy="5545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55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Imprimir</a:t>
            </a:r>
            <a:endParaRPr lang="es-E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60845"/>
            <a:ext cx="9559925" cy="5098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93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PDF Informe -</a:t>
            </a:r>
            <a:r>
              <a:rPr lang="es-ES" dirty="0" err="1" smtClean="0"/>
              <a:t>jsPDF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435801"/>
            <a:ext cx="9958387" cy="515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659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Captura: </a:t>
            </a:r>
            <a:r>
              <a:rPr lang="es-ES" dirty="0"/>
              <a:t>html2canvas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99637"/>
            <a:ext cx="6786563" cy="530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152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49C67B-1453-8106-B57C-69B902CD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99D44BE-0AFF-163C-6C5F-14289494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JSDocs</a:t>
            </a:r>
            <a:endParaRPr lang="es-E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233511"/>
            <a:ext cx="10093325" cy="5383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519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49C67B-1453-8106-B57C-69B902CD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99D44BE-0AFF-163C-6C5F-14289494C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Jest</a:t>
            </a:r>
            <a:endParaRPr lang="es-E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5" t="24442"/>
          <a:stretch/>
        </p:blipFill>
        <p:spPr bwMode="auto">
          <a:xfrm>
            <a:off x="1085850" y="1295400"/>
            <a:ext cx="9505950" cy="52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730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49C67B-1453-8106-B57C-69B902CD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99D44BE-0AFF-163C-6C5F-14289494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429" y="1"/>
            <a:ext cx="9258299" cy="937418"/>
          </a:xfrm>
        </p:spPr>
        <p:txBody>
          <a:bodyPr/>
          <a:lstStyle/>
          <a:p>
            <a:r>
              <a:rPr lang="es-ES" dirty="0" smtClean="0"/>
              <a:t>Estructura de Carpetas</a:t>
            </a:r>
            <a:endParaRPr lang="es-E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0475" y="937418"/>
            <a:ext cx="3486150" cy="584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29" y="1181100"/>
            <a:ext cx="2652395" cy="5362575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84" y="1181100"/>
            <a:ext cx="2313190" cy="584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0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2DB818-229E-F6DF-7B2E-682B526F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E03BA2-6732-1CFC-0E37-C33416FA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GitHub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A2B789AC-C061-D2C7-7279-F55985B639EF}"/>
              </a:ext>
            </a:extLst>
          </p:cNvPr>
          <p:cNvSpPr txBox="1"/>
          <p:nvPr/>
        </p:nvSpPr>
        <p:spPr>
          <a:xfrm>
            <a:off x="1327355" y="1898742"/>
            <a:ext cx="95372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2"/>
              </a:rPr>
              <a:t>https://</a:t>
            </a:r>
            <a:r>
              <a:rPr lang="es-ES" dirty="0" smtClean="0">
                <a:hlinkClick r:id="rId2"/>
              </a:rPr>
              <a:t>github.com/GMC-maker/bricoacademy_project</a:t>
            </a:r>
            <a:endParaRPr lang="es-ES" dirty="0" smtClean="0"/>
          </a:p>
          <a:p>
            <a:pPr algn="ctr"/>
            <a:endParaRPr lang="es-ES" dirty="0"/>
          </a:p>
          <a:p>
            <a:pPr algn="ctr"/>
            <a:endParaRPr lang="es-ES" dirty="0" smtClean="0"/>
          </a:p>
          <a:p>
            <a:pPr algn="ctr"/>
            <a:r>
              <a:rPr lang="es-ES" dirty="0"/>
              <a:t>AWS </a:t>
            </a:r>
            <a:r>
              <a:rPr lang="es-ES" dirty="0" smtClean="0"/>
              <a:t>B3: </a:t>
            </a:r>
          </a:p>
          <a:p>
            <a:pPr algn="ctr"/>
            <a:r>
              <a:rPr lang="es-ES" dirty="0" smtClean="0"/>
              <a:t>bricoacademy-2026.s3-website-us-east-1.amazonaws.com</a:t>
            </a:r>
          </a:p>
          <a:p>
            <a:pPr algn="ctr"/>
            <a:r>
              <a:rPr lang="es-ES" dirty="0" smtClean="0"/>
              <a:t>EC2</a:t>
            </a:r>
            <a:r>
              <a:rPr lang="es-ES" dirty="0" smtClean="0"/>
              <a:t>:</a:t>
            </a:r>
            <a:br>
              <a:rPr lang="es-ES" dirty="0" smtClean="0"/>
            </a:br>
            <a:r>
              <a:rPr lang="es-ES" dirty="0"/>
              <a:t>ec2-34-231-40-172.compute-1.amazonaws.com</a:t>
            </a:r>
            <a:endParaRPr lang="es-ES" dirty="0" smtClean="0"/>
          </a:p>
          <a:p>
            <a:pPr algn="ctr"/>
            <a:endParaRPr lang="es-ES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736" y="4281488"/>
            <a:ext cx="6718527" cy="1190625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26" y="1248773"/>
            <a:ext cx="1219048" cy="1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3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482D05A-604B-2F1B-E1EA-0DAC6328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</a:t>
            </a:r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876300" y="1823142"/>
            <a:ext cx="10458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El </a:t>
            </a:r>
            <a:r>
              <a:rPr lang="es-ES" sz="1600" dirty="0">
                <a:latin typeface="ABeeZee" pitchFamily="2" charset="0"/>
              </a:rPr>
              <a:t>proyecto cumple con los requisitos funcionales principales y permite trabajar el flujo completo </a:t>
            </a:r>
            <a:endParaRPr lang="es-ES" sz="1600" dirty="0" smtClean="0">
              <a:latin typeface="ABeeZee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ES" sz="1600" i="1" dirty="0" err="1" smtClean="0">
                <a:latin typeface="ABeeZee" pitchFamily="2" charset="0"/>
              </a:rPr>
              <a:t>frontend</a:t>
            </a:r>
            <a:r>
              <a:rPr lang="es-ES" sz="1600" i="1" dirty="0" smtClean="0">
                <a:latin typeface="ABeeZee" pitchFamily="2" charset="0"/>
              </a:rPr>
              <a:t> </a:t>
            </a:r>
            <a:r>
              <a:rPr lang="es-ES" sz="1600" i="1" dirty="0">
                <a:latin typeface="ABeeZee" pitchFamily="2" charset="0"/>
              </a:rPr>
              <a:t>→ </a:t>
            </a:r>
            <a:r>
              <a:rPr lang="es-ES" sz="1600" i="1" dirty="0" err="1">
                <a:latin typeface="ABeeZee" pitchFamily="2" charset="0"/>
              </a:rPr>
              <a:t>backend</a:t>
            </a:r>
            <a:r>
              <a:rPr lang="es-ES" sz="1600" i="1" dirty="0">
                <a:latin typeface="ABeeZee" pitchFamily="2" charset="0"/>
              </a:rPr>
              <a:t> → base de datos</a:t>
            </a:r>
            <a:r>
              <a:rPr lang="es-ES" sz="1600" dirty="0" smtClean="0">
                <a:latin typeface="ABeeZee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ES" sz="1600" dirty="0">
              <a:latin typeface="ABeeZee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Por </a:t>
            </a:r>
            <a:r>
              <a:rPr lang="es-ES" sz="1600" dirty="0">
                <a:latin typeface="ABeeZee" pitchFamily="2" charset="0"/>
              </a:rPr>
              <a:t>falta de tiempo, han quedado pendientes algunas mejoras</a:t>
            </a:r>
            <a:r>
              <a:rPr lang="es-ES" sz="1600" dirty="0" smtClean="0">
                <a:latin typeface="ABeeZee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ES" sz="1600" dirty="0" smtClean="0">
                <a:latin typeface="ABeeZee" pitchFamily="2" charset="0"/>
              </a:rPr>
              <a:t>Conexión con la BBDD para los </a:t>
            </a:r>
            <a:r>
              <a:rPr lang="es-ES" sz="1600" dirty="0" err="1" smtClean="0">
                <a:latin typeface="ABeeZee" pitchFamily="2" charset="0"/>
              </a:rPr>
              <a:t>Jest</a:t>
            </a:r>
            <a:endParaRPr lang="es-ES" sz="1600" dirty="0" smtClean="0">
              <a:latin typeface="ABeeZee" pitchFamily="2" charset="0"/>
            </a:endParaRPr>
          </a:p>
          <a:p>
            <a:pPr algn="just">
              <a:lnSpc>
                <a:spcPct val="150000"/>
              </a:lnSpc>
            </a:pPr>
            <a:endParaRPr lang="es-ES" sz="1600" dirty="0">
              <a:latin typeface="ABeeZ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9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195</Words>
  <Application>Microsoft Office PowerPoint</Application>
  <PresentationFormat>Personalizado</PresentationFormat>
  <Paragraphs>25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Brico Academy</vt:lpstr>
      <vt:lpstr>Resumen de la practica</vt:lpstr>
      <vt:lpstr>Captura de las graficas generadas</vt:lpstr>
      <vt:lpstr>Botones</vt:lpstr>
      <vt:lpstr>Imprimir</vt:lpstr>
      <vt:lpstr>PDF Informe -jsPDF</vt:lpstr>
      <vt:lpstr>Captura: html2canvas</vt:lpstr>
      <vt:lpstr>JSDocs</vt:lpstr>
      <vt:lpstr>Jest</vt:lpstr>
      <vt:lpstr>Estructura de Carpetas</vt:lpstr>
      <vt:lpstr>GitHub</vt:lpstr>
      <vt:lpstr>Conclusiones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Brico Academy</dc:title>
  <dc:creator>Carlos Alberto Rodriguez Parrales</dc:creator>
  <cp:lastModifiedBy>Windows 11</cp:lastModifiedBy>
  <cp:revision>12</cp:revision>
  <dcterms:created xsi:type="dcterms:W3CDTF">2025-01-23T00:19:39Z</dcterms:created>
  <dcterms:modified xsi:type="dcterms:W3CDTF">2026-02-13T22:56:44Z</dcterms:modified>
</cp:coreProperties>
</file>